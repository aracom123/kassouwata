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31053D3F-E0BF-F33F-C1E9-B913762A2034}">
          <p14:sldIdLst>
            <p14:sldId id="256"/>
            <p14:sldId id="257"/>
          </p14:sldIdLst>
        </p14:section>
        <p14:section name="Le parcours" id="{FF4000DF-5959-7C1C-6F82-63A5E5D2D77F}">
          <p14:sldIdLst>
            <p14:sldId id="258"/>
            <p14:sldId id="259"/>
          </p14:sldIdLst>
        </p14:section>
        <p14:section name="Moyens de paiement" id="{87AF2D87-AC14-A401-0F74-82C4F3062C2D}">
          <p14:sldIdLst>
            <p14:sldId id="260"/>
            <p14:sldId id="261"/>
            <p14:sldId id="262"/>
            <p14:sldId id="263"/>
          </p14:sldIdLst>
        </p14:section>
        <p14:section name="Après le paiement" id="{106F3E76-F98C-7D99-2494-81585568ADA1}">
          <p14:sldIdLst>
            <p14:sldId id="264"/>
            <p14:sldId id="265"/>
            <p14:sldId id="266"/>
          </p14:sldIdLst>
        </p14:section>
        <p14:section name="Questions fréquentes" id="{1A6358AA-3A4C-3420-70C2-63D88F2446C0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8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176" y="10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0181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 guide explique au client comment se déroule un paiement dans l'application Kassouwata selon le moyen choisi.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somb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417320"/>
            <a:ext cx="8046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926080"/>
            <a:ext cx="73152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Text 0"/>
          <p:cNvSpPr/>
          <p:nvPr/>
        </p:nvSpPr>
        <p:spPr>
          <a:xfrm>
            <a:off x="548640" y="4526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</a:rPr>
              <a:t>BEIT NIGER  ·  kassouwata.beit.ne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accent6"/>
                </a:solidFill>
              </a:rPr>
              <a:t>Kassouwata · Guide du paiement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4173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bg1"/>
                </a:solidFill>
              </a:rPr>
              <a:t>Comment ça marche ? Payer sur Kassouwata</a:t>
            </a:r>
            <a:endParaRPr lang="en-US" sz="3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9260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</a:rPr>
              <a:t>Guide des moyens de paiement : Mobile Money, transfert d'argent et carte bancaire</a:t>
            </a:r>
            <a:endParaRPr lang="en-US" sz="1800" dirty="0"/>
          </a:p>
        </p:txBody>
      </p:sp>
      <p:sp>
        <p:nvSpPr>
          <p:cNvPr id="4" name="Paiement cercle"/>
          <p:cNvSpPr/>
          <p:nvPr/>
        </p:nvSpPr>
        <p:spPr>
          <a:xfrm>
            <a:off x="7589520" y="457200"/>
            <a:ext cx="1005840" cy="10058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Paiement icôn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805" y="678485"/>
            <a:ext cx="563270" cy="56327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Le principe en trois temps</a:t>
            </a:r>
            <a:endParaRPr lang="en-US" sz="2800" dirty="0"/>
          </a:p>
        </p:txBody>
      </p:sp>
      <p:sp>
        <p:nvSpPr>
          <p:cNvPr id="3" name="Carte 1. Vous choisissez"/>
          <p:cNvSpPr/>
          <p:nvPr/>
        </p:nvSpPr>
        <p:spPr>
          <a:xfrm>
            <a:off x="457200" y="1188720"/>
            <a:ext cx="256032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1. Vous choisissez cercle"/>
          <p:cNvSpPr/>
          <p:nvPr/>
        </p:nvSpPr>
        <p:spPr>
          <a:xfrm>
            <a:off x="685800" y="14173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1. Vous choisissez icôn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" y="1568196"/>
            <a:ext cx="384048" cy="3840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240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1. Vous choisissez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65176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Le moyen de paiement qui vous convient : Mobile Money, société de transfert (STA) ou carte bancaire.</a:t>
            </a:r>
            <a:endParaRPr lang="en-US" sz="1300" dirty="0"/>
          </a:p>
        </p:txBody>
      </p:sp>
      <p:sp>
        <p:nvSpPr>
          <p:cNvPr id="8" name="Carte 2. Vous confirmez"/>
          <p:cNvSpPr/>
          <p:nvPr/>
        </p:nvSpPr>
        <p:spPr>
          <a:xfrm>
            <a:off x="3291840" y="1188720"/>
            <a:ext cx="256032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2. Vous confirmez cercle"/>
          <p:cNvSpPr/>
          <p:nvPr/>
        </p:nvSpPr>
        <p:spPr>
          <a:xfrm>
            <a:off x="3520440" y="14173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2. Vous confirmez icône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1316" y="1568196"/>
            <a:ext cx="384048" cy="38404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20440" y="2240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2. Vous confirmez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3520440" y="265176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Sur votre téléphone, dans l'application de votre service de transfert ou sur la page sécurisée de votre banque.</a:t>
            </a:r>
            <a:endParaRPr lang="en-US" sz="1300" dirty="0"/>
          </a:p>
        </p:txBody>
      </p:sp>
      <p:sp>
        <p:nvSpPr>
          <p:cNvPr id="13" name="Carte 3. C'est enregistré"/>
          <p:cNvSpPr/>
          <p:nvPr/>
        </p:nvSpPr>
        <p:spPr>
          <a:xfrm>
            <a:off x="6126480" y="1188720"/>
            <a:ext cx="256032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3. C'est enregistré cercle"/>
          <p:cNvSpPr/>
          <p:nvPr/>
        </p:nvSpPr>
        <p:spPr>
          <a:xfrm>
            <a:off x="6355080" y="1417320"/>
            <a:ext cx="685800" cy="6858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3. C'est enregistré icône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956" y="1568196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55080" y="2240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3. C'est enregistré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6355080" y="265176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Dès la confirmation, le paiement est automatiquement rattaché à votre commande ou à votre tontine.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457200" y="3977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Les paiements transitent par KomiPay, </a:t>
            </a:r>
            <a:r>
              <a:rPr lang="en-US" sz="1300" dirty="0">
                <a:solidFill>
                  <a:schemeClr val="tx1"/>
                </a:solidFill>
              </a:rPr>
              <a:t>agrégateur de paiement agréé : Kassouwata ne voit jamais votre code secret Mobile Money ni le code PIN de votre carte.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À quels moments payer ?</a:t>
            </a:r>
            <a:endParaRPr lang="en-US" sz="2800" dirty="0"/>
          </a:p>
        </p:txBody>
      </p:sp>
      <p:sp>
        <p:nvSpPr>
          <p:cNvPr id="3" name="Carte Commande payée en une fois"/>
          <p:cNvSpPr/>
          <p:nvPr/>
        </p:nvSpPr>
        <p:spPr>
          <a:xfrm>
            <a:off x="457200" y="1188720"/>
            <a:ext cx="2560320" cy="333756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Commande payée en une fois cercle"/>
          <p:cNvSpPr/>
          <p:nvPr/>
        </p:nvSpPr>
        <p:spPr>
          <a:xfrm>
            <a:off x="685800" y="14173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Commande payée en une fois icôn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18" y="1558138"/>
            <a:ext cx="358445" cy="35844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17627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Commande payée en une fois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78892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Au moment de valider la commande, choisissez « Payer en ligne ».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Vous pouvez aussi régler en espèces à la livraison.</a:t>
            </a:r>
            <a:endParaRPr lang="en-US" sz="1300" dirty="0"/>
          </a:p>
        </p:txBody>
      </p:sp>
      <p:sp>
        <p:nvSpPr>
          <p:cNvPr id="8" name="Carte Commande prépayée (par tranches)"/>
          <p:cNvSpPr/>
          <p:nvPr/>
        </p:nvSpPr>
        <p:spPr>
          <a:xfrm>
            <a:off x="3291840" y="1188720"/>
            <a:ext cx="2560320" cy="333756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Commande prépayée (par tranches) cercle"/>
          <p:cNvSpPr/>
          <p:nvPr/>
        </p:nvSpPr>
        <p:spPr>
          <a:xfrm>
            <a:off x="3520440" y="14173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Commande prépayée (par tranches) icône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1258" y="1558138"/>
            <a:ext cx="358445" cy="35844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20440" y="217627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Commande prépayée (par tranches)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474720" y="278892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Versez le montant de votre choix depuis le détail de la commande, bouton « Payer ».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Le reste à payer se met à jour après chaque versement réussi.</a:t>
            </a:r>
            <a:endParaRPr lang="en-US" sz="1300" dirty="0"/>
          </a:p>
        </p:txBody>
      </p:sp>
      <p:sp>
        <p:nvSpPr>
          <p:cNvPr id="13" name="Carte Cotisation de tontine"/>
          <p:cNvSpPr/>
          <p:nvPr/>
        </p:nvSpPr>
        <p:spPr>
          <a:xfrm>
            <a:off x="6126480" y="1188720"/>
            <a:ext cx="2560320" cy="333756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Cotisation de tontine cercle"/>
          <p:cNvSpPr/>
          <p:nvPr/>
        </p:nvSpPr>
        <p:spPr>
          <a:xfrm>
            <a:off x="6355080" y="141732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Cotisation de tontine icône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5898" y="1558138"/>
            <a:ext cx="358445" cy="35844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55080" y="217627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Cotisation de tontine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309360" y="278892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Depuis la période en cours de la tontine, bouton « Cotiser ».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Disponible dans l'application client et dans l'application vendeur.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Les 6 étapes à l'écran</a:t>
            </a:r>
            <a:endParaRPr lang="en-US" sz="2800" dirty="0"/>
          </a:p>
        </p:txBody>
      </p:sp>
      <p:sp>
        <p:nvSpPr>
          <p:cNvPr id="3" name="Étape 1"/>
          <p:cNvSpPr/>
          <p:nvPr/>
        </p:nvSpPr>
        <p:spPr>
          <a:xfrm>
            <a:off x="457200" y="12344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2344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Catégorie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78308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Mobile Money, STA ou carte bancaire</a:t>
            </a:r>
            <a:endParaRPr lang="en-US" sz="1300" dirty="0"/>
          </a:p>
        </p:txBody>
      </p:sp>
      <p:sp>
        <p:nvSpPr>
          <p:cNvPr id="7" name="Étape 2"/>
          <p:cNvSpPr/>
          <p:nvPr/>
        </p:nvSpPr>
        <p:spPr>
          <a:xfrm>
            <a:off x="3291840" y="12344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9184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931920" y="12344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Opérateur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931920" y="178308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Touchez le logo : Airtel Money, MyNita, Amana, Visa, Mastercard…</a:t>
            </a:r>
            <a:endParaRPr lang="en-US" sz="1300" dirty="0"/>
          </a:p>
        </p:txBody>
      </p:sp>
      <p:sp>
        <p:nvSpPr>
          <p:cNvPr id="11" name="Étape 3"/>
          <p:cNvSpPr/>
          <p:nvPr/>
        </p:nvSpPr>
        <p:spPr>
          <a:xfrm>
            <a:off x="6126480" y="12344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766560" y="12344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Formulaire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766560" y="178308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Numéro, nom ou données de carte selon le moyen choisi</a:t>
            </a:r>
            <a:endParaRPr lang="en-US" sz="1300" dirty="0"/>
          </a:p>
        </p:txBody>
      </p:sp>
      <p:sp>
        <p:nvSpPr>
          <p:cNvPr id="15" name="Étape 4"/>
          <p:cNvSpPr/>
          <p:nvPr/>
        </p:nvSpPr>
        <p:spPr>
          <a:xfrm>
            <a:off x="457200" y="29260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29260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Validation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47472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Vérifiez le montant puis touchez « Payer »</a:t>
            </a:r>
            <a:endParaRPr lang="en-US" sz="1300" dirty="0"/>
          </a:p>
        </p:txBody>
      </p:sp>
      <p:sp>
        <p:nvSpPr>
          <p:cNvPr id="19" name="Étape 5"/>
          <p:cNvSpPr/>
          <p:nvPr/>
        </p:nvSpPr>
        <p:spPr>
          <a:xfrm>
            <a:off x="3291840" y="29260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29184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3931920" y="29260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Confirmation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3931920" y="347472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Confirmez sur votre téléphone ou sur la page de votre banque</a:t>
            </a:r>
            <a:endParaRPr lang="en-US" sz="1300" dirty="0"/>
          </a:p>
        </p:txBody>
      </p:sp>
      <p:sp>
        <p:nvSpPr>
          <p:cNvPr id="23" name="Étape 6"/>
          <p:cNvSpPr/>
          <p:nvPr/>
        </p:nvSpPr>
        <p:spPr>
          <a:xfrm>
            <a:off x="6126480" y="29260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12648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766560" y="29260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Résultat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766560" y="347472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Paiement réussi ou échoué, affiché automatiquement</a:t>
            </a:r>
            <a:endParaRPr lang="en-US" sz="13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Trois familles de moyens de paiement</a:t>
            </a:r>
            <a:endParaRPr lang="en-US" sz="2800" dirty="0"/>
          </a:p>
        </p:txBody>
      </p:sp>
      <p:graphicFrame>
        <p:nvGraphicFramePr>
          <p:cNvPr id="6" name="Tableau comparatif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2706624"/>
        </p:xfrm>
        <a:graphic>
          <a:graphicData uri="http://schemas.openxmlformats.org/drawingml/2006/table">
            <a:tbl>
              <a:tblPr/>
              <a:tblGrid>
                <a:gridCol w="150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Mobile Money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Transfert d'argent (STA)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Carte bancaire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Exemples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Airtel Money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MyNita, Amana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Visa, Mastercard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Vous saisissez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Numéro de téléphone et nom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Numéro de téléphone et pays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Numéro de carte, date d'expiration, CVV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Vous confirmez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Sur votre téléphone (message de l'opérateur + code secret)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Dans l'application ou auprès du service de transfert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Sur la page sécurisée 3-D Secure de votre banque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Résultat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Quelques instants après votre confirmation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Dès que l'opération est validée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Souvent immédiat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Le choix se fait librement à chaque paiement : seuls les moyens activés par Kassouwata s'affichent.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Mobile Money – Airtel Money</a:t>
            </a:r>
            <a:endParaRPr lang="en-US" sz="2800" dirty="0"/>
          </a:p>
        </p:txBody>
      </p:sp>
      <p:sp>
        <p:nvSpPr>
          <p:cNvPr id="3" name="Panneau Mobile Money – Airtel Money"/>
          <p:cNvSpPr/>
          <p:nvPr/>
        </p:nvSpPr>
        <p:spPr>
          <a:xfrm>
            <a:off x="457200" y="1143000"/>
            <a:ext cx="2651760" cy="3383280"/>
          </a:xfrm>
          <a:prstGeom prst="roundRect">
            <a:avLst>
              <a:gd name="adj" fmla="val 275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Cercle icône"/>
          <p:cNvSpPr/>
          <p:nvPr/>
        </p:nvSpPr>
        <p:spPr>
          <a:xfrm>
            <a:off x="1280160" y="1371600"/>
            <a:ext cx="1005840" cy="100584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5" name="Icône Mobile Money – Airtel Money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328" y="1572768"/>
            <a:ext cx="603504" cy="60350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56032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Vous payez directement depuis votre compte Mobile Money. Aucune carte bancaire n'est nécessaire.</a:t>
            </a:r>
            <a:endParaRPr lang="en-US" sz="1300" dirty="0"/>
          </a:p>
        </p:txBody>
      </p:sp>
      <p:sp>
        <p:nvSpPr>
          <p:cNvPr id="7" name="Étape 1"/>
          <p:cNvSpPr/>
          <p:nvPr/>
        </p:nvSpPr>
        <p:spPr>
          <a:xfrm>
            <a:off x="3474720" y="11887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47472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Liaison"/>
          <p:cNvSpPr/>
          <p:nvPr/>
        </p:nvSpPr>
        <p:spPr>
          <a:xfrm>
            <a:off x="3680460" y="1600200"/>
            <a:ext cx="0" cy="320040"/>
          </a:xfrm>
          <a:prstGeom prst="line">
            <a:avLst/>
          </a:prstGeom>
          <a:noFill/>
          <a:ln w="19050">
            <a:solidFill>
              <a:srgbClr val="B8C7D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069080" y="114300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Choisissez « Mobile Money » puis Airtel Money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069080" y="1408176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Le montant à payer est déjà rempli.</a:t>
            </a:r>
            <a:endParaRPr lang="en-US" sz="1200" dirty="0"/>
          </a:p>
        </p:txBody>
      </p:sp>
      <p:sp>
        <p:nvSpPr>
          <p:cNvPr id="12" name="Étape 2"/>
          <p:cNvSpPr/>
          <p:nvPr/>
        </p:nvSpPr>
        <p:spPr>
          <a:xfrm>
            <a:off x="3474720" y="192024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474720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Liaison"/>
          <p:cNvSpPr/>
          <p:nvPr/>
        </p:nvSpPr>
        <p:spPr>
          <a:xfrm>
            <a:off x="3680460" y="2331720"/>
            <a:ext cx="0" cy="320040"/>
          </a:xfrm>
          <a:prstGeom prst="line">
            <a:avLst/>
          </a:prstGeom>
          <a:noFill/>
          <a:ln w="19050">
            <a:solidFill>
              <a:srgbClr val="B8C7D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069080" y="187452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Saisissez le numéro et le nom du titulaire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4069080" y="2139696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Le numéro doit être celui du compte Mobile Money à débiter.</a:t>
            </a:r>
            <a:endParaRPr lang="en-US" sz="1200" dirty="0"/>
          </a:p>
        </p:txBody>
      </p:sp>
      <p:sp>
        <p:nvSpPr>
          <p:cNvPr id="17" name="Étape 3"/>
          <p:cNvSpPr/>
          <p:nvPr/>
        </p:nvSpPr>
        <p:spPr>
          <a:xfrm>
            <a:off x="3474720" y="26517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474720" y="2651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Liaison"/>
          <p:cNvSpPr/>
          <p:nvPr/>
        </p:nvSpPr>
        <p:spPr>
          <a:xfrm>
            <a:off x="3680460" y="3063240"/>
            <a:ext cx="0" cy="320040"/>
          </a:xfrm>
          <a:prstGeom prst="line">
            <a:avLst/>
          </a:prstGeom>
          <a:noFill/>
          <a:ln w="19050">
            <a:solidFill>
              <a:srgbClr val="B8C7D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069080" y="260604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Touchez « Payer »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4069080" y="2871216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La demande est envoyée à votre opérateur.</a:t>
            </a:r>
            <a:endParaRPr lang="en-US" sz="1200" dirty="0"/>
          </a:p>
        </p:txBody>
      </p:sp>
      <p:sp>
        <p:nvSpPr>
          <p:cNvPr id="22" name="Étape 4"/>
          <p:cNvSpPr/>
          <p:nvPr/>
        </p:nvSpPr>
        <p:spPr>
          <a:xfrm>
            <a:off x="3474720" y="3383280"/>
            <a:ext cx="411480" cy="4114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474720" y="3383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4069080" y="333756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Validez sur votre téléphone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4069080" y="3602736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Un message de l'opérateur apparaît : entrez votre code secret.</a:t>
            </a:r>
            <a:endParaRPr lang="en-US" sz="1200" dirty="0"/>
          </a:p>
        </p:txBody>
      </p:sp>
      <p:sp>
        <p:nvSpPr>
          <p:cNvPr id="26" name="Conseil"/>
          <p:cNvSpPr/>
          <p:nvPr/>
        </p:nvSpPr>
        <p:spPr>
          <a:xfrm>
            <a:off x="3474720" y="4114800"/>
            <a:ext cx="5212080" cy="457200"/>
          </a:xfrm>
          <a:prstGeom prst="roundRect">
            <a:avLst>
              <a:gd name="adj" fmla="val 16000"/>
            </a:avLst>
          </a:prstGeom>
          <a:solidFill>
            <a:srgbClr val="FFE9DF"/>
          </a:solidFill>
          <a:ln w="12700">
            <a:solidFill>
              <a:srgbClr val="FFE9D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611880" y="411480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Bon à savoir : </a:t>
            </a:r>
            <a:r>
              <a:rPr lang="en-US" sz="1200" dirty="0">
                <a:solidFill>
                  <a:schemeClr val="tx1"/>
                </a:solidFill>
              </a:rPr>
              <a:t>gardez votre téléphone allumé et à portée de main ; la demande expire au bout de quelques minutes.</a:t>
            </a:r>
            <a:endParaRPr lang="en-US" sz="12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Transfert d'argent – MyNita, Amana</a:t>
            </a:r>
            <a:endParaRPr lang="en-US" sz="2800" dirty="0"/>
          </a:p>
        </p:txBody>
      </p:sp>
      <p:sp>
        <p:nvSpPr>
          <p:cNvPr id="3" name="Panneau Transfert d'argent – MyNita, Amana"/>
          <p:cNvSpPr/>
          <p:nvPr/>
        </p:nvSpPr>
        <p:spPr>
          <a:xfrm>
            <a:off x="457200" y="1143000"/>
            <a:ext cx="2651760" cy="3383280"/>
          </a:xfrm>
          <a:prstGeom prst="roundRect">
            <a:avLst>
              <a:gd name="adj" fmla="val 275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Cercle icône"/>
          <p:cNvSpPr/>
          <p:nvPr/>
        </p:nvSpPr>
        <p:spPr>
          <a:xfrm>
            <a:off x="1280160" y="1371600"/>
            <a:ext cx="1005840" cy="100584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5" name="Icône Transfert d'argent – MyNita, Amana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328" y="1572768"/>
            <a:ext cx="603504" cy="60350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56032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Les sociétés de transfert d'argent (STA) permettent de payer depuis votre compte chez MyNita ou Amana.</a:t>
            </a:r>
            <a:endParaRPr lang="en-US" sz="1300" dirty="0"/>
          </a:p>
        </p:txBody>
      </p:sp>
      <p:sp>
        <p:nvSpPr>
          <p:cNvPr id="7" name="Étape 1"/>
          <p:cNvSpPr/>
          <p:nvPr/>
        </p:nvSpPr>
        <p:spPr>
          <a:xfrm>
            <a:off x="3474720" y="11887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47472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Liaison"/>
          <p:cNvSpPr/>
          <p:nvPr/>
        </p:nvSpPr>
        <p:spPr>
          <a:xfrm>
            <a:off x="3680460" y="1600200"/>
            <a:ext cx="0" cy="320040"/>
          </a:xfrm>
          <a:prstGeom prst="line">
            <a:avLst/>
          </a:prstGeom>
          <a:noFill/>
          <a:ln w="19050">
            <a:solidFill>
              <a:srgbClr val="B8C7D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069080" y="114300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Choisissez « STA » puis MyNita ou Amana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069080" y="1408176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Sélection par le logo du service.</a:t>
            </a:r>
            <a:endParaRPr lang="en-US" sz="1200" dirty="0"/>
          </a:p>
        </p:txBody>
      </p:sp>
      <p:sp>
        <p:nvSpPr>
          <p:cNvPr id="12" name="Étape 2"/>
          <p:cNvSpPr/>
          <p:nvPr/>
        </p:nvSpPr>
        <p:spPr>
          <a:xfrm>
            <a:off x="3474720" y="192024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474720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Liaison"/>
          <p:cNvSpPr/>
          <p:nvPr/>
        </p:nvSpPr>
        <p:spPr>
          <a:xfrm>
            <a:off x="3680460" y="2331720"/>
            <a:ext cx="0" cy="320040"/>
          </a:xfrm>
          <a:prstGeom prst="line">
            <a:avLst/>
          </a:prstGeom>
          <a:noFill/>
          <a:ln w="19050">
            <a:solidFill>
              <a:srgbClr val="B8C7D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069080" y="187452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Saisissez votre numéro et votre pays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4069080" y="2139696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Ce numéro doit être celui de votre compte chez le service choisi.</a:t>
            </a:r>
            <a:endParaRPr lang="en-US" sz="1200" dirty="0"/>
          </a:p>
        </p:txBody>
      </p:sp>
      <p:sp>
        <p:nvSpPr>
          <p:cNvPr id="17" name="Étape 3"/>
          <p:cNvSpPr/>
          <p:nvPr/>
        </p:nvSpPr>
        <p:spPr>
          <a:xfrm>
            <a:off x="3474720" y="26517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474720" y="2651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Liaison"/>
          <p:cNvSpPr/>
          <p:nvPr/>
        </p:nvSpPr>
        <p:spPr>
          <a:xfrm>
            <a:off x="3680460" y="3063240"/>
            <a:ext cx="0" cy="320040"/>
          </a:xfrm>
          <a:prstGeom prst="line">
            <a:avLst/>
          </a:prstGeom>
          <a:noFill/>
          <a:ln w="19050">
            <a:solidFill>
              <a:srgbClr val="B8C7D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069080" y="260604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Touchez « Payer »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4069080" y="2871216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Une demande de paiement est créée chez le service de transfert.</a:t>
            </a:r>
            <a:endParaRPr lang="en-US" sz="1200" dirty="0"/>
          </a:p>
        </p:txBody>
      </p:sp>
      <p:sp>
        <p:nvSpPr>
          <p:cNvPr id="22" name="Étape 4"/>
          <p:cNvSpPr/>
          <p:nvPr/>
        </p:nvSpPr>
        <p:spPr>
          <a:xfrm>
            <a:off x="3474720" y="3383280"/>
            <a:ext cx="411480" cy="4114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474720" y="3383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4069080" y="333756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Validez l'opération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4069080" y="3602736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Dans l'application du service ou par le canal qu'il vous indique.</a:t>
            </a:r>
            <a:endParaRPr lang="en-US" sz="1200" dirty="0"/>
          </a:p>
        </p:txBody>
      </p:sp>
      <p:sp>
        <p:nvSpPr>
          <p:cNvPr id="26" name="Conseil"/>
          <p:cNvSpPr/>
          <p:nvPr/>
        </p:nvSpPr>
        <p:spPr>
          <a:xfrm>
            <a:off x="3474720" y="4114800"/>
            <a:ext cx="5212080" cy="457200"/>
          </a:xfrm>
          <a:prstGeom prst="roundRect">
            <a:avLst>
              <a:gd name="adj" fmla="val 16000"/>
            </a:avLst>
          </a:prstGeom>
          <a:solidFill>
            <a:srgbClr val="FFE9DF"/>
          </a:solidFill>
          <a:ln w="12700">
            <a:solidFill>
              <a:srgbClr val="FFE9D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611880" y="411480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Bon à savoir : </a:t>
            </a:r>
            <a:r>
              <a:rPr lang="en-US" sz="1200" dirty="0">
                <a:solidFill>
                  <a:schemeClr val="tx1"/>
                </a:solidFill>
              </a:rPr>
              <a:t>tant que vous n'avez pas validé, le paiement reste « En attente ».</a:t>
            </a:r>
            <a:endParaRPr lang="en-US" sz="12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Carte bancaire – Visa, Mastercard</a:t>
            </a:r>
            <a:endParaRPr lang="en-US" sz="2800" dirty="0"/>
          </a:p>
        </p:txBody>
      </p:sp>
      <p:sp>
        <p:nvSpPr>
          <p:cNvPr id="3" name="Panneau Carte bancaire – Visa, Mastercard"/>
          <p:cNvSpPr/>
          <p:nvPr/>
        </p:nvSpPr>
        <p:spPr>
          <a:xfrm>
            <a:off x="457200" y="1143000"/>
            <a:ext cx="2651760" cy="3383280"/>
          </a:xfrm>
          <a:prstGeom prst="roundRect">
            <a:avLst>
              <a:gd name="adj" fmla="val 275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Cercle icône"/>
          <p:cNvSpPr/>
          <p:nvPr/>
        </p:nvSpPr>
        <p:spPr>
          <a:xfrm>
            <a:off x="1280160" y="1371600"/>
            <a:ext cx="1005840" cy="100584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5" name="Icône Carte bancaire – Visa, Mastercard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328" y="1572768"/>
            <a:ext cx="603504" cy="60350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56032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Paiement par carte protégé par 3-D Secure : votre banque vérifie que c'est bien vous qui payez.</a:t>
            </a:r>
            <a:endParaRPr lang="en-US" sz="1300" dirty="0"/>
          </a:p>
        </p:txBody>
      </p:sp>
      <p:sp>
        <p:nvSpPr>
          <p:cNvPr id="7" name="Étape 1"/>
          <p:cNvSpPr/>
          <p:nvPr/>
        </p:nvSpPr>
        <p:spPr>
          <a:xfrm>
            <a:off x="3474720" y="11887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47472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Liaison"/>
          <p:cNvSpPr/>
          <p:nvPr/>
        </p:nvSpPr>
        <p:spPr>
          <a:xfrm>
            <a:off x="3680460" y="1600200"/>
            <a:ext cx="0" cy="320040"/>
          </a:xfrm>
          <a:prstGeom prst="line">
            <a:avLst/>
          </a:prstGeom>
          <a:noFill/>
          <a:ln w="19050">
            <a:solidFill>
              <a:srgbClr val="B8C7D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069080" y="114300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Choisissez « Carte bancaire »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069080" y="1408176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Le type de carte (Visa ou Mastercard) est reconnu automatiquement.</a:t>
            </a:r>
            <a:endParaRPr lang="en-US" sz="1200" dirty="0"/>
          </a:p>
        </p:txBody>
      </p:sp>
      <p:sp>
        <p:nvSpPr>
          <p:cNvPr id="12" name="Étape 2"/>
          <p:cNvSpPr/>
          <p:nvPr/>
        </p:nvSpPr>
        <p:spPr>
          <a:xfrm>
            <a:off x="3474720" y="192024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474720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Liaison"/>
          <p:cNvSpPr/>
          <p:nvPr/>
        </p:nvSpPr>
        <p:spPr>
          <a:xfrm>
            <a:off x="3680460" y="2331720"/>
            <a:ext cx="0" cy="320040"/>
          </a:xfrm>
          <a:prstGeom prst="line">
            <a:avLst/>
          </a:prstGeom>
          <a:noFill/>
          <a:ln w="19050">
            <a:solidFill>
              <a:srgbClr val="B8C7D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069080" y="187452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Saisissez numéro, date d'expiration et CVV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4069080" y="2139696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Le CVV est chiffré avant d'être transmis.</a:t>
            </a:r>
            <a:endParaRPr lang="en-US" sz="1200" dirty="0"/>
          </a:p>
        </p:txBody>
      </p:sp>
      <p:sp>
        <p:nvSpPr>
          <p:cNvPr id="17" name="Étape 3"/>
          <p:cNvSpPr/>
          <p:nvPr/>
        </p:nvSpPr>
        <p:spPr>
          <a:xfrm>
            <a:off x="3474720" y="26517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474720" y="2651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Liaison"/>
          <p:cNvSpPr/>
          <p:nvPr/>
        </p:nvSpPr>
        <p:spPr>
          <a:xfrm>
            <a:off x="3680460" y="3063240"/>
            <a:ext cx="0" cy="320040"/>
          </a:xfrm>
          <a:prstGeom prst="line">
            <a:avLst/>
          </a:prstGeom>
          <a:noFill/>
          <a:ln w="19050">
            <a:solidFill>
              <a:srgbClr val="B8C7D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069080" y="260604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Touchez « Payer »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4069080" y="2871216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La page sécurisée de votre banque s'ouvre dans l'application.</a:t>
            </a:r>
            <a:endParaRPr lang="en-US" sz="1200" dirty="0"/>
          </a:p>
        </p:txBody>
      </p:sp>
      <p:sp>
        <p:nvSpPr>
          <p:cNvPr id="22" name="Étape 4"/>
          <p:cNvSpPr/>
          <p:nvPr/>
        </p:nvSpPr>
        <p:spPr>
          <a:xfrm>
            <a:off x="3474720" y="3383280"/>
            <a:ext cx="411480" cy="4114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474720" y="3383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4069080" y="333756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Authentifiez-vous auprès de votre banque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4069080" y="3602736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Code reçu par SMS ou validation dans l'appli bancaire, puis retour automatique.</a:t>
            </a:r>
            <a:endParaRPr lang="en-US" sz="1200" dirty="0"/>
          </a:p>
        </p:txBody>
      </p:sp>
      <p:sp>
        <p:nvSpPr>
          <p:cNvPr id="26" name="Conseil"/>
          <p:cNvSpPr/>
          <p:nvPr/>
        </p:nvSpPr>
        <p:spPr>
          <a:xfrm>
            <a:off x="3474720" y="4114800"/>
            <a:ext cx="5212080" cy="457200"/>
          </a:xfrm>
          <a:prstGeom prst="roundRect">
            <a:avLst>
              <a:gd name="adj" fmla="val 16000"/>
            </a:avLst>
          </a:prstGeom>
          <a:solidFill>
            <a:srgbClr val="FFE9DF"/>
          </a:solidFill>
          <a:ln w="12700">
            <a:solidFill>
              <a:srgbClr val="FFE9D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611880" y="411480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Bon à savoir : </a:t>
            </a:r>
            <a:r>
              <a:rPr lang="en-US" sz="1200" dirty="0">
                <a:solidFill>
                  <a:schemeClr val="tx1"/>
                </a:solidFill>
              </a:rPr>
              <a:t>votre carte doit être activée pour les paiements en ligne (3-D Secure).</a:t>
            </a:r>
            <a:endParaRPr lang="en-US" sz="12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Que se passe-t-il après la validation ?</a:t>
            </a:r>
            <a:endParaRPr lang="en-US" sz="2800" dirty="0"/>
          </a:p>
        </p:txBody>
      </p:sp>
      <p:sp>
        <p:nvSpPr>
          <p:cNvPr id="3" name="Statut En attente"/>
          <p:cNvSpPr/>
          <p:nvPr/>
        </p:nvSpPr>
        <p:spPr>
          <a:xfrm>
            <a:off x="457200" y="1143000"/>
            <a:ext cx="256032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En attente cercle"/>
          <p:cNvSpPr/>
          <p:nvPr/>
        </p:nvSpPr>
        <p:spPr>
          <a:xfrm>
            <a:off x="685800" y="1325880"/>
            <a:ext cx="594360" cy="5943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En attente icôn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59" y="145663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32588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En attente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05740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Votre confirmation est attendue. L'application vérifie le statut toutes les 5 secondes pendant 3 minutes, puis à chaque retour dans l'application.</a:t>
            </a:r>
            <a:endParaRPr lang="en-US" sz="1250" dirty="0"/>
          </a:p>
        </p:txBody>
      </p:sp>
      <p:sp>
        <p:nvSpPr>
          <p:cNvPr id="8" name="Statut Réussi"/>
          <p:cNvSpPr/>
          <p:nvPr/>
        </p:nvSpPr>
        <p:spPr>
          <a:xfrm>
            <a:off x="3291840" y="1143000"/>
            <a:ext cx="256032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Réussi cercle"/>
          <p:cNvSpPr/>
          <p:nvPr/>
        </p:nvSpPr>
        <p:spPr>
          <a:xfrm>
            <a:off x="3520440" y="1325880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Réussi icône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1199" y="145663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251960" y="132588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Réussi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520440" y="205740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Le montant est enregistré sur votre commande ou votre tontine. Pour une commande, le vendeur est prévenu par SMS.</a:t>
            </a:r>
            <a:endParaRPr lang="en-US" sz="1250" dirty="0"/>
          </a:p>
        </p:txBody>
      </p:sp>
      <p:sp>
        <p:nvSpPr>
          <p:cNvPr id="13" name="Statut Échoué"/>
          <p:cNvSpPr/>
          <p:nvPr/>
        </p:nvSpPr>
        <p:spPr>
          <a:xfrm>
            <a:off x="6126480" y="1143000"/>
            <a:ext cx="256032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Échoué cercle"/>
          <p:cNvSpPr/>
          <p:nvPr/>
        </p:nvSpPr>
        <p:spPr>
          <a:xfrm>
            <a:off x="6355080" y="1325880"/>
            <a:ext cx="594360" cy="5943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5" name="Échoué icône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5839" y="1456639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086600" y="132588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Échoué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355080" y="205740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Refus, solde insuffisant ou délai dépassé. Aucun montant n'est enregistré : vous pouvez réessayer.</a:t>
            </a:r>
            <a:endParaRPr lang="en-US" sz="1250" dirty="0"/>
          </a:p>
        </p:txBody>
      </p:sp>
      <p:sp>
        <p:nvSpPr>
          <p:cNvPr id="18" name="Vérification serveur cercle"/>
          <p:cNvSpPr/>
          <p:nvPr/>
        </p:nvSpPr>
        <p:spPr>
          <a:xfrm>
            <a:off x="457200" y="3794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Vérification serveur icône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7901" y="3915461"/>
            <a:ext cx="307238" cy="30723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188720" y="370332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Vous pouvez fermer l'application. </a:t>
            </a:r>
            <a:r>
              <a:rPr lang="en-US" sz="1300" dirty="0">
                <a:solidFill>
                  <a:schemeClr val="tx1"/>
                </a:solidFill>
              </a:rPr>
              <a:t>Le serveur Kassouwata continue de vérifier chaque paiement en attente toutes les minutes, jusqu'à 24 heures : un paiement confirmé plus tard est enregistré automatiquement.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Vos paiements sont protégés</a:t>
            </a:r>
            <a:endParaRPr lang="en-US" sz="2800" dirty="0"/>
          </a:p>
        </p:txBody>
      </p:sp>
      <p:sp>
        <p:nvSpPr>
          <p:cNvPr id="3" name="Données de carte jamais conservées cercle"/>
          <p:cNvSpPr/>
          <p:nvPr/>
        </p:nvSpPr>
        <p:spPr>
          <a:xfrm>
            <a:off x="457200" y="118872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Données de carte jamais conservées icôn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18" y="1329538"/>
            <a:ext cx="358445" cy="35844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1887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Données de carte jamais conservées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280160" y="160020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Le numéro complet et le CVV ne sont ni enregistrés ni journalisés ; seuls les 4 derniers chiffres peuvent s'afficher.</a:t>
            </a:r>
            <a:endParaRPr lang="en-US" sz="1250" dirty="0"/>
          </a:p>
        </p:txBody>
      </p:sp>
      <p:sp>
        <p:nvSpPr>
          <p:cNvPr id="7" name="Authentification forte cercle"/>
          <p:cNvSpPr/>
          <p:nvPr/>
        </p:nvSpPr>
        <p:spPr>
          <a:xfrm>
            <a:off x="4663440" y="11887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Authentification forte icône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4258" y="1329538"/>
            <a:ext cx="358445" cy="35844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0" y="11887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Authentification forte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5486400" y="160020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Code secret Mobile Money, validation STA ou 3-D Secure : la confirmation se fait toujours chez votre opérateur ou votre banque.</a:t>
            </a:r>
            <a:endParaRPr lang="en-US" sz="1250" dirty="0"/>
          </a:p>
        </p:txBody>
      </p:sp>
      <p:sp>
        <p:nvSpPr>
          <p:cNvPr id="11" name="Pas de double paiement cercle"/>
          <p:cNvSpPr/>
          <p:nvPr/>
        </p:nvSpPr>
        <p:spPr>
          <a:xfrm>
            <a:off x="457200" y="28803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Pas de double paiement icône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018" y="3021178"/>
            <a:ext cx="358445" cy="35844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80160" y="28803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Pas de double paiement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280160" y="329184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Un seul paiement en attente à la fois par commande, et une seule cotisation par période de tontine.</a:t>
            </a:r>
            <a:endParaRPr lang="en-US" sz="1250" dirty="0"/>
          </a:p>
        </p:txBody>
      </p:sp>
      <p:sp>
        <p:nvSpPr>
          <p:cNvPr id="15" name="Connexions chiffrées cercle"/>
          <p:cNvSpPr/>
          <p:nvPr/>
        </p:nvSpPr>
        <p:spPr>
          <a:xfrm>
            <a:off x="4663440" y="28803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Connexions chiffrées icône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4258" y="3021178"/>
            <a:ext cx="358445" cy="35844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486400" y="28803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Connexions chiffrées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5486400" y="329184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Tous les échanges passent par des connexions sécurisées (HTTPS) avec un agrégateur agréé.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Où suivre ses paiements ?</a:t>
            </a:r>
            <a:endParaRPr lang="en-US" sz="2800" dirty="0"/>
          </a:p>
        </p:txBody>
      </p:sp>
      <p:sp>
        <p:nvSpPr>
          <p:cNvPr id="3" name="Suivi Client"/>
          <p:cNvSpPr/>
          <p:nvPr/>
        </p:nvSpPr>
        <p:spPr>
          <a:xfrm>
            <a:off x="457200" y="1143000"/>
            <a:ext cx="2560320" cy="338328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Client cercle"/>
          <p:cNvSpPr/>
          <p:nvPr/>
        </p:nvSpPr>
        <p:spPr>
          <a:xfrm>
            <a:off x="685800" y="132588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Client icôn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59" y="145663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3258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Client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1645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Application client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148840"/>
            <a:ext cx="22402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Détail de la commande : chaque versement avec son badge de statut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Montant payé et reste à payer (paiements réussis uniquement)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Détail de la tontine : cotisations par période</a:t>
            </a:r>
            <a:endParaRPr lang="en-US" sz="1250" dirty="0"/>
          </a:p>
        </p:txBody>
      </p:sp>
      <p:sp>
        <p:nvSpPr>
          <p:cNvPr id="9" name="Suivi Vendeur"/>
          <p:cNvSpPr/>
          <p:nvPr/>
        </p:nvSpPr>
        <p:spPr>
          <a:xfrm>
            <a:off x="3291840" y="1143000"/>
            <a:ext cx="2560320" cy="338328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Vendeur cercle"/>
          <p:cNvSpPr/>
          <p:nvPr/>
        </p:nvSpPr>
        <p:spPr>
          <a:xfrm>
            <a:off x="3520440" y="13258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Vendeur icône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1199" y="145663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251960" y="13258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Vendeur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251960" y="1645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Application vendeur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3474720" y="2148840"/>
            <a:ext cx="22402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Onglet « Règlements » de chaque commande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SMS à chaque paiement réussi d'une commande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Ses propres cotisations de tontine</a:t>
            </a:r>
            <a:endParaRPr lang="en-US" sz="1250" dirty="0"/>
          </a:p>
        </p:txBody>
      </p:sp>
      <p:sp>
        <p:nvSpPr>
          <p:cNvPr id="15" name="Suivi Administration"/>
          <p:cNvSpPr/>
          <p:nvPr/>
        </p:nvSpPr>
        <p:spPr>
          <a:xfrm>
            <a:off x="6126480" y="1143000"/>
            <a:ext cx="2560320" cy="338328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Administration cercle"/>
          <p:cNvSpPr/>
          <p:nvPr/>
        </p:nvSpPr>
        <p:spPr>
          <a:xfrm>
            <a:off x="6355080" y="13258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Administration icône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5839" y="1456639"/>
            <a:ext cx="332842" cy="33284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086600" y="13258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Administration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7086600" y="1645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Back office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6309360" y="2148840"/>
            <a:ext cx="22402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Menu « Paiements » : toutes les transactions et leur statut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Menu « Moyens de paiement » : activation et logos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Référence et détail de chaque transaction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Questions fréquentes</a:t>
            </a:r>
            <a:endParaRPr lang="en-US" sz="2800" dirty="0"/>
          </a:p>
        </p:txBody>
      </p:sp>
      <p:sp>
        <p:nvSpPr>
          <p:cNvPr id="3" name="Question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Question 1 cercle"/>
          <p:cNvSpPr/>
          <p:nvPr/>
        </p:nvSpPr>
        <p:spPr>
          <a:xfrm>
            <a:off x="640080" y="13258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Question 1 icôn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1426464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3258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Mon paiement reste « En attente »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745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Vérifiez que vous avez bien confirmé sur votre téléphone ou chez votre banque, puis touchez « Actualiser ». La vérification automatique continue jusqu'à 24 h.</a:t>
            </a:r>
            <a:endParaRPr lang="en-US" sz="1200" dirty="0"/>
          </a:p>
        </p:txBody>
      </p:sp>
      <p:sp>
        <p:nvSpPr>
          <p:cNvPr id="8" name="Question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Question 2 cercle"/>
          <p:cNvSpPr/>
          <p:nvPr/>
        </p:nvSpPr>
        <p:spPr>
          <a:xfrm>
            <a:off x="4846320" y="13258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Question 2 icôn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904" y="142646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40680" y="13258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Mon paiement a échoué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4846320" y="18745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Vérifiez votre solde ou les informations saisies, puis relancez le paiement depuis la commande ou la tontine.</a:t>
            </a:r>
            <a:endParaRPr lang="en-US" sz="1200" dirty="0"/>
          </a:p>
        </p:txBody>
      </p:sp>
      <p:sp>
        <p:nvSpPr>
          <p:cNvPr id="13" name="Question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Question 3 cercle"/>
          <p:cNvSpPr/>
          <p:nvPr/>
        </p:nvSpPr>
        <p:spPr>
          <a:xfrm>
            <a:off x="640080" y="301752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Question 3 icôn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3118104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34440" y="30175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J'ai été débité mais le paiement apparaît échoué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" y="35661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Notez la référence du paiement (ex. CMD-…) et contactez le support : nous vérifions auprès de l'agrégateur.</a:t>
            </a:r>
            <a:endParaRPr lang="en-US" sz="1200" dirty="0"/>
          </a:p>
        </p:txBody>
      </p:sp>
      <p:sp>
        <p:nvSpPr>
          <p:cNvPr id="18" name="Question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Question 4 cercle"/>
          <p:cNvSpPr/>
          <p:nvPr/>
        </p:nvSpPr>
        <p:spPr>
          <a:xfrm>
            <a:off x="4846320" y="30175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Question 4 icôn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904" y="3118104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40680" y="30175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Puis-je payer en plusieurs fois ?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4846320" y="35661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Oui, avec une commande prépayée : chaque versement réussi diminue le reste à payer.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4173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bg1"/>
                </a:solidFill>
              </a:rPr>
              <a:t>Besoin d'aide ?</a:t>
            </a:r>
            <a:endParaRPr lang="en-US" sz="3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9260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 err="1">
                <a:solidFill>
                  <a:schemeClr val="bg2"/>
                </a:solidFill>
              </a:rPr>
              <a:t>L'équipe</a:t>
            </a:r>
            <a:r>
              <a:rPr lang="en-US" sz="1800" dirty="0">
                <a:solidFill>
                  <a:schemeClr val="bg2"/>
                </a:solidFill>
              </a:rPr>
              <a:t> BEIT NIGER vous accompagne pour tout problème de paiement. Pensez à indiquer la référence du paiement.</a:t>
            </a:r>
            <a:endParaRPr lang="en-US" sz="1800" dirty="0"/>
          </a:p>
        </p:txBody>
      </p:sp>
      <p:sp>
        <p:nvSpPr>
          <p:cNvPr id="4" name="Support cercle"/>
          <p:cNvSpPr/>
          <p:nvPr/>
        </p:nvSpPr>
        <p:spPr>
          <a:xfrm>
            <a:off x="7589520" y="457200"/>
            <a:ext cx="1005840" cy="10058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Support icôn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805" y="678485"/>
            <a:ext cx="563270" cy="56327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B8BA9D86-AC57-DF40-A8F0-48560CE20483}"/>
              </a:ext>
            </a:extLst>
          </p:cNvPr>
          <p:cNvSpPr txBox="1"/>
          <p:nvPr/>
        </p:nvSpPr>
        <p:spPr>
          <a:xfrm>
            <a:off x="1695938" y="465796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NE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assouwata BEIT NIGER">
  <a:themeElements>
    <a:clrScheme name="Kassouwata BEIT NIGER">
      <a:dk1>
        <a:srgbClr val="1F2A37"/>
      </a:dk1>
      <a:lt1>
        <a:srgbClr val="FFFFFF"/>
      </a:lt1>
      <a:dk2>
        <a:srgbClr val="005489"/>
      </a:dk2>
      <a:lt2>
        <a:srgbClr val="EAF2F8"/>
      </a:lt2>
      <a:accent1>
        <a:srgbClr val="005489"/>
      </a:accent1>
      <a:accent2>
        <a:srgbClr val="FF4500"/>
      </a:accent2>
      <a:accent3>
        <a:srgbClr val="1E8E3E"/>
      </a:accent3>
      <a:accent4>
        <a:srgbClr val="C62828"/>
      </a:accent4>
      <a:accent5>
        <a:srgbClr val="E39B00"/>
      </a:accent5>
      <a:accent6>
        <a:srgbClr val="5B6675"/>
      </a:accent6>
      <a:hlink>
        <a:srgbClr val="005489"/>
      </a:hlink>
      <a:folHlink>
        <a:srgbClr val="6B3FA0"/>
      </a:folHlink>
    </a:clrScheme>
    <a:fontScheme name="Kassouwata BEIT NIGER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1199</Words>
  <Application>Microsoft Macintosh PowerPoint</Application>
  <PresentationFormat>Affichage à l'écran (16:9)</PresentationFormat>
  <Paragraphs>174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6" baseType="lpstr">
      <vt:lpstr>Arial</vt:lpstr>
      <vt:lpstr>Calibri</vt:lpstr>
      <vt:lpstr>Kassouwata BEIT NIGER</vt:lpstr>
      <vt:lpstr>Comment ça marche ? Payer sur Kassouwata</vt:lpstr>
      <vt:lpstr>Le principe en trois temps</vt:lpstr>
      <vt:lpstr>À quels moments payer ?</vt:lpstr>
      <vt:lpstr>Les 6 étapes à l'écran</vt:lpstr>
      <vt:lpstr>Trois familles de moyens de paiement</vt:lpstr>
      <vt:lpstr>Mobile Money – Airtel Money</vt:lpstr>
      <vt:lpstr>Transfert d'argent – MyNita, Amana</vt:lpstr>
      <vt:lpstr>Carte bancaire – Visa, Mastercard</vt:lpstr>
      <vt:lpstr>Que se passe-t-il après la validation ?</vt:lpstr>
      <vt:lpstr>Vos paiements sont protégés</vt:lpstr>
      <vt:lpstr>Où suivre ses paiements ?</vt:lpstr>
      <vt:lpstr>Questions fréquentes</vt:lpstr>
      <vt:lpstr>Besoin d'aide ?</vt:lpstr>
    </vt:vector>
  </TitlesOfParts>
  <Company>BEIT NIGER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Kassouwata – Comment ça marche : le paiement</dc:title>
  <dc:subject>PptxGenJS Presentation</dc:subject>
  <dc:creator>BEIT NIGER</dc:creator>
  <cp:lastModifiedBy>Microsoft Office User</cp:lastModifiedBy>
  <cp:revision>2</cp:revision>
  <dcterms:created xsi:type="dcterms:W3CDTF">2026-10-18T06:13:37Z</dcterms:created>
  <dcterms:modified xsi:type="dcterms:W3CDTF">2026-10-18T06:20:25Z</dcterms:modified>
</cp:coreProperties>
</file>